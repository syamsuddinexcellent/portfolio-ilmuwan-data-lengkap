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82296" cy="2377440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08214"/>
                </a:solidFill>
                <a:latin typeface="Calibri"/>
              </a:rPr>
              <a:t>PORTOFOLIO SERTIFIKASI ILMUWAN DATA (DATA SCIENTIST)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1051560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Prediksi Arah Harian IHSG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C9D3E3"/>
                </a:solidFill>
                <a:latin typeface="Calibri"/>
              </a:rPr>
              <a:t>Berbasis Indikator Pasar Global dan Domestik, 2010 –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5468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9D3E3"/>
                </a:solidFill>
                <a:latin typeface="Calibri"/>
              </a:rPr>
              <a:t>Data nyata · 11 unit kompetensi SKKNI No. 299 Tahun 2020 · CRISP-DM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572000"/>
            <a:ext cx="73152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M. Syamsuddin Wisnubroto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3E3"/>
                </a:solidFill>
                <a:latin typeface="Calibri"/>
              </a:rPr>
              <a:t>Institut Teknologi Sumatera (ITERA)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3E3"/>
                </a:solidFill>
                <a:latin typeface="Calibri"/>
              </a:rPr>
              <a:t>Skema DSS.01.00.23 · LSP Digital Kreatif Solusi ·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8778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Ringkasan proyek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84280" cy="27432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Prediksi Arah Harian IHSG  ·  M. Syamsuddin Wisnubroto  ·  Portofolio Ilmuwan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66751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Pertanyaan bisnis: </a:t>
            </a:r>
            <a:r>
              <a:rPr sz="1600" b="0">
                <a:solidFill>
                  <a:srgbClr val="222B38"/>
                </a:solidFill>
                <a:latin typeface="Calibri"/>
              </a:rPr>
              <a:t>apakah informasi pasar yang tersedia sebelum BEI dibuka dapat memperkirakan apakah IHSG ditutup naik pada hari bursa berikutnya?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240280"/>
            <a:ext cx="66751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900">
                <a:solidFill>
                  <a:srgbClr val="E08214"/>
                </a:solidFill>
                <a:latin typeface="Calibri"/>
              </a:rPr>
              <a:t>■  </a:t>
            </a:r>
            <a:r>
              <a:rPr sz="1400" b="0">
                <a:solidFill>
                  <a:srgbClr val="222B38"/>
                </a:solidFill>
                <a:latin typeface="Calibri"/>
              </a:rPr>
              <a:t>Data nyata harian </a:t>
            </a:r>
            <a:r>
              <a:rPr sz="1400" b="1">
                <a:solidFill>
                  <a:srgbClr val="222B38"/>
                </a:solidFill>
                <a:latin typeface="Calibri"/>
              </a:rPr>
              <a:t>1 Jan 2010 – 29 Mei 2026</a:t>
            </a:r>
            <a:r>
              <a:rPr sz="1400" b="0">
                <a:solidFill>
                  <a:srgbClr val="222B38"/>
                </a:solidFill>
                <a:latin typeface="Calibri"/>
              </a:rPr>
              <a:t>: IHSG, S&amp;P 500, VIX, minyak, emas, USD/IDR, suku bunga BI &amp; AS, inflasi (4.277 baris).</a:t>
            </a:r>
          </a:p>
          <a:p>
            <a:pPr>
              <a:spcAft>
                <a:spcPts val="800"/>
              </a:spcAft>
            </a:pPr>
            <a:r>
              <a:rPr sz="900">
                <a:solidFill>
                  <a:srgbClr val="E08214"/>
                </a:solidFill>
                <a:latin typeface="Calibri"/>
              </a:rPr>
              <a:t>■  </a:t>
            </a:r>
            <a:r>
              <a:rPr sz="1400" b="1">
                <a:solidFill>
                  <a:srgbClr val="222B38"/>
                </a:solidFill>
                <a:latin typeface="Calibri"/>
              </a:rPr>
              <a:t>Klasifikasi biner </a:t>
            </a:r>
            <a:r>
              <a:rPr sz="1400" b="0">
                <a:solidFill>
                  <a:srgbClr val="222B38"/>
                </a:solidFill>
                <a:latin typeface="Calibri"/>
              </a:rPr>
              <a:t>Naik vs Turun/Tetap, hanya memakai data yang sudah terbit sebelum 09.00 WIB.</a:t>
            </a:r>
          </a:p>
          <a:p>
            <a:pPr>
              <a:spcAft>
                <a:spcPts val="800"/>
              </a:spcAft>
            </a:pPr>
            <a:r>
              <a:rPr sz="900">
                <a:solidFill>
                  <a:srgbClr val="E08214"/>
                </a:solidFill>
                <a:latin typeface="Calibri"/>
              </a:rPr>
              <a:t>■  </a:t>
            </a:r>
            <a:r>
              <a:rPr sz="1400" b="1">
                <a:solidFill>
                  <a:srgbClr val="222B38"/>
                </a:solidFill>
                <a:latin typeface="Calibri"/>
              </a:rPr>
              <a:t>Validasi deret waktu </a:t>
            </a:r>
            <a:r>
              <a:rPr sz="1400" b="0">
                <a:solidFill>
                  <a:srgbClr val="222B38"/>
                </a:solidFill>
                <a:latin typeface="Calibri"/>
              </a:rPr>
              <a:t>(TimeSeriesSplit, purging, uji point-in-time) — tanpa pengacakan.</a:t>
            </a:r>
          </a:p>
          <a:p>
            <a:pPr>
              <a:spcAft>
                <a:spcPts val="800"/>
              </a:spcAft>
            </a:pPr>
            <a:r>
              <a:rPr sz="900">
                <a:solidFill>
                  <a:srgbClr val="E08214"/>
                </a:solidFill>
                <a:latin typeface="Calibri"/>
              </a:rPr>
              <a:t>■  </a:t>
            </a:r>
            <a:r>
              <a:rPr sz="1400" b="0">
                <a:solidFill>
                  <a:srgbClr val="222B38"/>
                </a:solidFill>
                <a:latin typeface="Calibri"/>
              </a:rPr>
              <a:t>Data uji </a:t>
            </a:r>
            <a:r>
              <a:rPr sz="1400" b="1">
                <a:solidFill>
                  <a:srgbClr val="222B38"/>
                </a:solidFill>
                <a:latin typeface="Calibri"/>
              </a:rPr>
              <a:t>787 hari bursa (Jan 2023 – Mei 2026)</a:t>
            </a:r>
            <a:r>
              <a:rPr sz="1400" b="0">
                <a:solidFill>
                  <a:srgbClr val="222B38"/>
                </a:solidFill>
                <a:latin typeface="Calibri"/>
              </a:rPr>
              <a:t> dipakai satu kali, setelah model final dipilih.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234440"/>
            <a:ext cx="429768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1234440"/>
            <a:ext cx="64008" cy="1234440"/>
          </a:xfrm>
          <a:prstGeom prst="rect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344168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A6778"/>
                </a:solidFill>
                <a:latin typeface="Calibri"/>
              </a:rP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645920"/>
            <a:ext cx="21945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3A5F"/>
                </a:solidFill>
                <a:latin typeface="Calibri"/>
              </a:rPr>
              <a:t>0,560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1691640"/>
            <a:ext cx="20116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A9850"/>
                </a:solidFill>
                <a:latin typeface="Calibri"/>
              </a:rPr>
              <a:t>LULUS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778"/>
                </a:solidFill>
                <a:latin typeface="Calibri"/>
              </a:rPr>
              <a:t>target ≥ 0,55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2651760"/>
            <a:ext cx="429768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79" y="2651760"/>
            <a:ext cx="64008" cy="1234440"/>
          </a:xfrm>
          <a:prstGeom prst="rect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761488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A6778"/>
                </a:solidFill>
                <a:latin typeface="Calibri"/>
              </a:rPr>
              <a:t>F1-MACRO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063240"/>
            <a:ext cx="21945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3A5F"/>
                </a:solidFill>
                <a:latin typeface="Calibri"/>
              </a:rPr>
              <a:t>0,558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3108960"/>
            <a:ext cx="20116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A9850"/>
                </a:solidFill>
                <a:latin typeface="Calibri"/>
              </a:rPr>
              <a:t>LULUS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778"/>
                </a:solidFill>
                <a:latin typeface="Calibri"/>
              </a:rPr>
              <a:t>target ≥ 0,55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4069080"/>
            <a:ext cx="429768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4069080"/>
            <a:ext cx="64008" cy="1234440"/>
          </a:xfrm>
          <a:prstGeom prst="rect">
            <a:avLst/>
          </a:prstGeom>
          <a:solidFill>
            <a:srgbClr val="D73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4178808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A6778"/>
                </a:solidFill>
                <a:latin typeface="Calibri"/>
              </a:rPr>
              <a:t>ROC-AUC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4480560"/>
            <a:ext cx="21945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3A5F"/>
                </a:solidFill>
                <a:latin typeface="Calibri"/>
              </a:rPr>
              <a:t>0,569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4526280"/>
            <a:ext cx="20116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73027"/>
                </a:solidFill>
                <a:latin typeface="Calibri"/>
              </a:rPr>
              <a:t>TIDAK LULUS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778"/>
                </a:solidFill>
                <a:latin typeface="Calibri"/>
              </a:rPr>
              <a:t>target ≥ 0,58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532120"/>
            <a:ext cx="42976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778"/>
                </a:solidFill>
                <a:latin typeface="Calibri"/>
              </a:rPr>
              <a:t>Model final: Random Forest · data uji 2023-01-25 s.d. 2026-05-26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983480"/>
            <a:ext cx="6675120" cy="1143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4983480"/>
            <a:ext cx="64008" cy="1143000"/>
          </a:xfrm>
          <a:prstGeom prst="rect">
            <a:avLst/>
          </a:prstGeom>
          <a:solidFill>
            <a:srgbClr val="D73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0749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D73027"/>
                </a:solidFill>
                <a:latin typeface="Calibri"/>
              </a:rPr>
              <a:t>Keputusan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422392"/>
            <a:ext cx="64008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B38"/>
                </a:solidFill>
                <a:latin typeface="Calibri"/>
              </a:rPr>
              <a:t>Belum lanjut ke pilot: model mengalahkan baseline naif, tetapi setara dengan aturan sederhana "ikuti arah S&amp;P 500" dan ROC-AUC belum mencapai target. Hasil dilaporkan apa adanya.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8778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11 unit kompetensi → notebook → bukti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84280" cy="27432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Prediksi Arah Harian IHSG  ·  M. Syamsuddin Wisnubroto  ·  Portofolio Ilmuwan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188720"/>
          <a:ext cx="11384280" cy="4718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600200"/>
                <a:gridCol w="3291840"/>
                <a:gridCol w="1463040"/>
                <a:gridCol w="4526280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Kode unit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Unit kompetensi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Notebook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Bukti utama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J.62DMI00.001.1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Menentukan Objektif Bisnis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01_*.ipynb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Pemangku kepentingan, kriteria sukses bisnis B1–B4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J.62DMI00.002.1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Menentukan Tujuan Teknis Data Science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02_*.ipynb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Definisi target, KPI T1–T5 ditetapkan sebelum pemodelan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J.62DMI00.005.1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Menelaah Data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03_*.ipynb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Frekuensi pembaruan, distribusi return, korelasi lead–lag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J.62DMI00.006.1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Memvalidasi Data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04_*.ipynb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Kartu skor 6 dimensi; log 339 anomali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J.62DMI00.007.1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Menentukan Objek Data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05_*.ipynb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Unit analisis, seleksi atribut, uji chi-kuadrat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J.62DMI00.008.1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Membersihkan Data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06_*.ipynb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6 langkah, 3.464 sel dikoreksi, 7 uji lulus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J.62DMI00.009.1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Mengkonstruksi Data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07_*.ipynb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16 fitur, split kronologis + purging, uji point-in-time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J.62DMI00.012.1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Membangun Skenario Model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08_*.ipynb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TimeSeriesSplit, 3 baseline + 5 algoritma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J.62DMI00.013.1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Membangun Model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09_*.ipynb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Validasi silang, grid search, diagnosis overfitting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J.62DMI00.014.1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Mengevaluasi Hasil Pemodelan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10_*.ipynb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KPI vs baseline, ROC, permutation importance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J.62DMI00.015.1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Melakukan Proses Review Pemodelan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11_*.ipynb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Drift (PSI), keterbatasan, rencana penerapan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8778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Objektif bisnis: dukungan keputusan harian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64040" y="347472"/>
            <a:ext cx="2331720" cy="420624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64040" y="347472"/>
            <a:ext cx="233172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E08214"/>
                </a:solidFill>
                <a:latin typeface="Calibri"/>
              </a:rPr>
              <a:t>Unit 1</a:t>
            </a:r>
            <a:r>
              <a:rPr sz="1100" b="0">
                <a:solidFill>
                  <a:srgbClr val="5A6778"/>
                </a:solidFill>
                <a:latin typeface="Calibri"/>
              </a:rPr>
              <a:t>  ·  J.62DMI00.001.1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11384280" cy="27432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Prediksi Arah Harian IHSG  ·  M. Syamsuddin Wisnubroto  ·  Portofolio Ilmuwan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4</a:t>
            </a:r>
          </a:p>
        </p:txBody>
      </p:sp>
      <p:pic>
        <p:nvPicPr>
          <p:cNvPr id="9" name="Picture 8" descr="01_stakeholder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18051"/>
            <a:ext cx="5120640" cy="35818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52160" y="1234440"/>
            <a:ext cx="594360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900">
                <a:solidFill>
                  <a:srgbClr val="E08214"/>
                </a:solidFill>
                <a:latin typeface="Calibri"/>
              </a:rPr>
              <a:t>■  </a:t>
            </a:r>
            <a:r>
              <a:rPr sz="1400" b="1">
                <a:solidFill>
                  <a:srgbClr val="222B38"/>
                </a:solidFill>
                <a:latin typeface="Calibri"/>
              </a:rPr>
              <a:t>Tujuan 1 — </a:t>
            </a:r>
            <a:r>
              <a:rPr sz="1400" b="0">
                <a:solidFill>
                  <a:srgbClr val="222B38"/>
                </a:solidFill>
                <a:latin typeface="Calibri"/>
              </a:rPr>
              <a:t>probabilitas IHSG naik pada hari bursa berikutnya, terbit sebelum 09.00 WIB untuk morning brief.</a:t>
            </a:r>
          </a:p>
          <a:p>
            <a:pPr>
              <a:spcAft>
                <a:spcPts val="800"/>
              </a:spcAft>
            </a:pPr>
            <a:r>
              <a:rPr sz="900">
                <a:solidFill>
                  <a:srgbClr val="E08214"/>
                </a:solidFill>
                <a:latin typeface="Calibri"/>
              </a:rPr>
              <a:t>■  </a:t>
            </a:r>
            <a:r>
              <a:rPr sz="1400" b="1">
                <a:solidFill>
                  <a:srgbClr val="222B38"/>
                </a:solidFill>
                <a:latin typeface="Calibri"/>
              </a:rPr>
              <a:t>Tujuan 2 — </a:t>
            </a:r>
            <a:r>
              <a:rPr sz="1400" b="0">
                <a:solidFill>
                  <a:srgbClr val="222B38"/>
                </a:solidFill>
                <a:latin typeface="Calibri"/>
              </a:rPr>
              <a:t>peringkat faktor global/domestik yang paling berpengaruh.</a:t>
            </a:r>
          </a:p>
          <a:p>
            <a:pPr>
              <a:spcAft>
                <a:spcPts val="800"/>
              </a:spcAft>
            </a:pPr>
            <a:r>
              <a:rPr sz="900">
                <a:solidFill>
                  <a:srgbClr val="E08214"/>
                </a:solidFill>
                <a:latin typeface="Calibri"/>
              </a:rPr>
              <a:t>■  </a:t>
            </a:r>
            <a:r>
              <a:rPr sz="1400" b="1">
                <a:solidFill>
                  <a:srgbClr val="222B38"/>
                </a:solidFill>
                <a:latin typeface="Calibri"/>
              </a:rPr>
              <a:t>Tujuan 3 — </a:t>
            </a:r>
            <a:r>
              <a:rPr sz="1400" b="0">
                <a:solidFill>
                  <a:srgbClr val="222B38"/>
                </a:solidFill>
                <a:latin typeface="Calibri"/>
              </a:rPr>
              <a:t>peringatan dini hari dengan peluang turun tinggi untuk manajemen risiko.</a:t>
            </a:r>
          </a:p>
          <a:p>
            <a:pPr>
              <a:spcAft>
                <a:spcPts val="800"/>
              </a:spcAft>
            </a:pPr>
            <a:r>
              <a:rPr sz="900">
                <a:solidFill>
                  <a:srgbClr val="E08214"/>
                </a:solidFill>
                <a:latin typeface="Calibri"/>
              </a:rPr>
              <a:t>■  </a:t>
            </a:r>
            <a:r>
              <a:rPr sz="1400" b="1">
                <a:solidFill>
                  <a:srgbClr val="D73027"/>
                </a:solidFill>
                <a:latin typeface="Calibri"/>
              </a:rPr>
              <a:t>Di luar cakupan: </a:t>
            </a:r>
            <a:r>
              <a:rPr sz="1400" b="0">
                <a:solidFill>
                  <a:srgbClr val="222B38"/>
                </a:solidFill>
                <a:latin typeface="Calibri"/>
              </a:rPr>
              <a:t>sistem trading otomatis dan rekomendasi investasi.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52160" y="4206240"/>
          <a:ext cx="5943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521208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Kode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Kriteria sukses bisnis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B1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Lebih informatif daripada aturan naif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B2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Faktor pendorong dapat dijelaskan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B3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Otomatis sebelum 08.30 WIB dari data publik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B4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Keterbatasan dilaporkan secara jujur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11480" y="5166360"/>
            <a:ext cx="512064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778"/>
                </a:solidFill>
                <a:latin typeface="Calibri"/>
              </a:rPr>
              <a:t>Enam pemangku kepentingan dipetakan menurut pengaruh dan kepentingan; risiko utama (sinyal lemah, perubahan rezim, look-ahead bias, kualitas data publik) disertai mitigasi.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8778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Tujuan teknis: klasifikasi biner tanpa kebocoran waktu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64040" y="347472"/>
            <a:ext cx="2331720" cy="420624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64040" y="347472"/>
            <a:ext cx="233172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E08214"/>
                </a:solidFill>
                <a:latin typeface="Calibri"/>
              </a:rPr>
              <a:t>Unit 2</a:t>
            </a:r>
            <a:r>
              <a:rPr sz="1100" b="0">
                <a:solidFill>
                  <a:srgbClr val="5A6778"/>
                </a:solidFill>
                <a:latin typeface="Calibri"/>
              </a:rPr>
              <a:t>  ·  J.62DMI00.002.1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11384280" cy="27432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Prediksi Arah Harian IHSG  ·  M. Syamsuddin Wisnubroto  ·  Portofolio Ilmuwan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5</a:t>
            </a:r>
          </a:p>
        </p:txBody>
      </p:sp>
      <p:pic>
        <p:nvPicPr>
          <p:cNvPr id="9" name="Picture 8" descr="02_informa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296" y="1143000"/>
            <a:ext cx="7570646" cy="251460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3840480"/>
          <a:ext cx="60350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566160"/>
                <a:gridCol w="17373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Kode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Kriteria teknis (data uji)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Ambang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T1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≥ 0,55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T2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F1-macro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≥ 0,55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T3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≥ 0,58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T4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Mengalahkan baseline mayoritas &amp; acak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semua metrik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T5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Tanpa kebocoran data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uji PIT + purging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766560" y="3886200"/>
            <a:ext cx="502920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800">
                <a:solidFill>
                  <a:srgbClr val="E08214"/>
                </a:solidFill>
                <a:latin typeface="Calibri"/>
              </a:rPr>
              <a:t>■  </a:t>
            </a:r>
            <a:r>
              <a:rPr sz="1300" b="1">
                <a:solidFill>
                  <a:srgbClr val="222B38"/>
                </a:solidFill>
                <a:latin typeface="Calibri"/>
              </a:rPr>
              <a:t>Target: </a:t>
            </a:r>
            <a:r>
              <a:rPr sz="1300" b="0">
                <a:solidFill>
                  <a:srgbClr val="222B38"/>
                </a:solidFill>
                <a:latin typeface="Calibri"/>
              </a:rPr>
              <a:t>y = 1 jika Close IHSG(t+1) &gt; Close IHSG(t).</a:t>
            </a:r>
          </a:p>
          <a:p>
            <a:pPr>
              <a:spcAft>
                <a:spcPts val="800"/>
              </a:spcAft>
            </a:pPr>
            <a:r>
              <a:rPr sz="800">
                <a:solidFill>
                  <a:srgbClr val="E08214"/>
                </a:solidFill>
                <a:latin typeface="Calibri"/>
              </a:rPr>
              <a:t>■  </a:t>
            </a:r>
            <a:r>
              <a:rPr sz="1300" b="1">
                <a:solidFill>
                  <a:srgbClr val="222B38"/>
                </a:solidFill>
                <a:latin typeface="Calibri"/>
              </a:rPr>
              <a:t>Validasi: </a:t>
            </a:r>
            <a:r>
              <a:rPr sz="1300" b="0">
                <a:solidFill>
                  <a:srgbClr val="222B38"/>
                </a:solidFill>
                <a:latin typeface="Calibri"/>
              </a:rPr>
              <a:t>holdout kronologis 80/20 + TimeSeriesSplit 5 lipatan di data latih.</a:t>
            </a:r>
          </a:p>
          <a:p>
            <a:pPr>
              <a:spcAft>
                <a:spcPts val="800"/>
              </a:spcAft>
            </a:pPr>
            <a:r>
              <a:rPr sz="800">
                <a:solidFill>
                  <a:srgbClr val="E08214"/>
                </a:solidFill>
                <a:latin typeface="Calibri"/>
              </a:rPr>
              <a:t>■  </a:t>
            </a:r>
            <a:r>
              <a:rPr sz="1300" b="1">
                <a:solidFill>
                  <a:srgbClr val="222B38"/>
                </a:solidFill>
                <a:latin typeface="Calibri"/>
              </a:rPr>
              <a:t>Ambang realistis: </a:t>
            </a:r>
            <a:r>
              <a:rPr sz="1300" b="0">
                <a:solidFill>
                  <a:srgbClr val="222B38"/>
                </a:solidFill>
                <a:latin typeface="Calibri"/>
              </a:rPr>
              <a:t>akurasi &gt; 0,70 untuk arah harian justru patut dicurigai sebagai kebocoran.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8778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Telaah data: limpahan sesi AS adalah sinyal terkuat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64040" y="347472"/>
            <a:ext cx="2331720" cy="420624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64040" y="347472"/>
            <a:ext cx="233172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E08214"/>
                </a:solidFill>
                <a:latin typeface="Calibri"/>
              </a:rPr>
              <a:t>Unit 3</a:t>
            </a:r>
            <a:r>
              <a:rPr sz="1100" b="0">
                <a:solidFill>
                  <a:srgbClr val="5A6778"/>
                </a:solidFill>
                <a:latin typeface="Calibri"/>
              </a:rPr>
              <a:t>  ·  J.62DMI00.005.1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11384280" cy="27432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Prediksi Arah Harian IHSG  ·  M. Syamsuddin Wisnubroto  ·  Portofolio Ilmuwan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6</a:t>
            </a:r>
          </a:p>
        </p:txBody>
      </p:sp>
      <p:pic>
        <p:nvPicPr>
          <p:cNvPr id="9" name="Picture 8" descr="03_correlation_leadl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81994"/>
            <a:ext cx="7680960" cy="27052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1234440"/>
            <a:ext cx="3474720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800">
                <a:solidFill>
                  <a:srgbClr val="E08214"/>
                </a:solidFill>
                <a:latin typeface="Calibri"/>
              </a:rPr>
              <a:t>■  </a:t>
            </a:r>
            <a:r>
              <a:rPr sz="1300" b="0">
                <a:solidFill>
                  <a:srgbClr val="222B38"/>
                </a:solidFill>
                <a:latin typeface="Calibri"/>
              </a:rPr>
              <a:t>4.277 baris hari kerja; </a:t>
            </a:r>
            <a:r>
              <a:rPr sz="1300" b="1">
                <a:solidFill>
                  <a:srgbClr val="222B38"/>
                </a:solidFill>
                <a:latin typeface="Calibri"/>
              </a:rPr>
              <a:t>3.976 hari bursa BEI.</a:t>
            </a:r>
          </a:p>
          <a:p>
            <a:pPr>
              <a:spcAft>
                <a:spcPts val="800"/>
              </a:spcAft>
            </a:pPr>
            <a:r>
              <a:rPr sz="800">
                <a:solidFill>
                  <a:srgbClr val="E08214"/>
                </a:solidFill>
                <a:latin typeface="Calibri"/>
              </a:rPr>
              <a:t>■  </a:t>
            </a:r>
            <a:r>
              <a:rPr sz="1300" b="1">
                <a:solidFill>
                  <a:srgbClr val="222B38"/>
                </a:solidFill>
                <a:latin typeface="Calibri"/>
              </a:rPr>
              <a:t>Frekuensi teramati: </a:t>
            </a:r>
            <a:r>
              <a:rPr sz="1300" b="0">
                <a:solidFill>
                  <a:srgbClr val="222B38"/>
                </a:solidFill>
                <a:latin typeface="Calibri"/>
              </a:rPr>
              <a:t>6 variabel harian, US_rate bulanan, CPI tahunan, BI_rate campuran.</a:t>
            </a:r>
          </a:p>
          <a:p>
            <a:pPr>
              <a:spcAft>
                <a:spcPts val="800"/>
              </a:spcAft>
            </a:pPr>
            <a:r>
              <a:rPr sz="800">
                <a:solidFill>
                  <a:srgbClr val="E08214"/>
                </a:solidFill>
                <a:latin typeface="Calibri"/>
              </a:rPr>
              <a:t>■  </a:t>
            </a:r>
            <a:r>
              <a:rPr sz="1300" b="1">
                <a:solidFill>
                  <a:srgbClr val="222B38"/>
                </a:solidFill>
                <a:latin typeface="Calibri"/>
              </a:rPr>
              <a:t>Return IHSG berekor tebal: </a:t>
            </a:r>
            <a:r>
              <a:rPr sz="1300" b="0">
                <a:solidFill>
                  <a:srgbClr val="222B38"/>
                </a:solidFill>
                <a:latin typeface="Calibri"/>
              </a:rPr>
              <a:t>hari &gt; 3σ ≈ 6× lebih sering daripada distribusi normal.</a:t>
            </a:r>
          </a:p>
          <a:p>
            <a:pPr>
              <a:spcAft>
                <a:spcPts val="800"/>
              </a:spcAft>
            </a:pPr>
            <a:r>
              <a:rPr sz="800">
                <a:solidFill>
                  <a:srgbClr val="E08214"/>
                </a:solidFill>
                <a:latin typeface="Calibri"/>
              </a:rPr>
              <a:t>■  </a:t>
            </a:r>
            <a:r>
              <a:rPr sz="1300" b="1">
                <a:solidFill>
                  <a:srgbClr val="222B38"/>
                </a:solidFill>
                <a:latin typeface="Calibri"/>
              </a:rPr>
              <a:t>Korelasi diukur pada return </a:t>
            </a:r>
            <a:r>
              <a:rPr sz="1300" b="0">
                <a:solidFill>
                  <a:srgbClr val="222B38"/>
                </a:solidFill>
                <a:latin typeface="Calibri"/>
              </a:rPr>
              <a:t>(bukan level) dengan Spearman, hanya periode 2010–2022.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709160"/>
            <a:ext cx="7680960" cy="11887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4709160"/>
            <a:ext cx="64008" cy="1188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800600"/>
            <a:ext cx="74066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3A5F"/>
                </a:solidFill>
                <a:latin typeface="Calibri"/>
              </a:rPr>
              <a:t>Temuan kunci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148072"/>
            <a:ext cx="74066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B38"/>
                </a:solidFill>
                <a:latin typeface="Calibri"/>
              </a:rPr>
              <a:t>Return S&amp;P 500 hari t berkorelasi +0,29 dengan return IHSG hari t+1, jauh lebih kuat daripada korelasi pada hari yang sama (+0,13). Sesi AS berlangsung setelah BEI tutup, sehingga informasinya baru tercermin keesokan hari.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8778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Validasi data: empat isu nyata ditemukan dan dicatat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64040" y="347472"/>
            <a:ext cx="2331720" cy="420624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64040" y="347472"/>
            <a:ext cx="233172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E08214"/>
                </a:solidFill>
                <a:latin typeface="Calibri"/>
              </a:rPr>
              <a:t>Unit 4</a:t>
            </a:r>
            <a:r>
              <a:rPr sz="1100" b="0">
                <a:solidFill>
                  <a:srgbClr val="5A6778"/>
                </a:solidFill>
                <a:latin typeface="Calibri"/>
              </a:rPr>
              <a:t>  ·  J.62DMI00.006.1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11384280" cy="27432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Prediksi Arah Harian IHSG  ·  M. Syamsuddin Wisnubroto  ·  Portofolio Ilmuwan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7</a:t>
            </a:r>
          </a:p>
        </p:txBody>
      </p:sp>
      <p:pic>
        <p:nvPicPr>
          <p:cNvPr id="9" name="Picture 8" descr="04_usdidr_glit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479" y="1143000"/>
            <a:ext cx="9936281" cy="292608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4206240"/>
          <a:ext cx="74066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005840"/>
                <a:gridCol w="23774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Isu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Jumlah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Tindakan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Kutipan USD/IDR rusak (3 aturan deteksi)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Forward-fill (Unit 6)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Harga minyak negatif 20 Apr 2020 (peristiwa nyata)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Forward-fill + winsorization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Hari libur BEI: IHSG disalin dari hari sebelumnya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Hapus dari unit analisis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Look-ahead: CPI tahunan sejak 1 Jan; suku bunga sejak awal bulan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3 variabel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CPI keluar; suku bunga akhir bulan lalu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092440" y="4206240"/>
            <a:ext cx="3703320" cy="196596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4206240"/>
            <a:ext cx="64008" cy="1965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4297679"/>
            <a:ext cx="3429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3A5F"/>
                </a:solidFill>
                <a:latin typeface="Calibri"/>
              </a:rPr>
              <a:t>Kontrol metode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4645152"/>
            <a:ext cx="3429000" cy="14630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B38"/>
                </a:solidFill>
                <a:latin typeface="Calibri"/>
              </a:rPr>
              <a:t>Lonjakan nyata rupiah ke ±16.500 saat krisis COVID-19 (24 Mar 2020) tidak ikut tertandai. Nilai "macet" 9.612,45 muncul pada 28 tanggal terpisah.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8778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Objek data: unit analisis, target, dan seleksi atribut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64040" y="347472"/>
            <a:ext cx="2331720" cy="420624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64040" y="347472"/>
            <a:ext cx="233172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E08214"/>
                </a:solidFill>
                <a:latin typeface="Calibri"/>
              </a:rPr>
              <a:t>Unit 5</a:t>
            </a:r>
            <a:r>
              <a:rPr sz="1100" b="0">
                <a:solidFill>
                  <a:srgbClr val="5A6778"/>
                </a:solidFill>
                <a:latin typeface="Calibri"/>
              </a:rPr>
              <a:t>  ·  J.62DMI00.007.1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11384280" cy="27432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Prediksi Arah Harian IHSG  ·  M. Syamsuddin Wisnubroto  ·  Portofolio Ilmuwan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8</a:t>
            </a:r>
          </a:p>
        </p:txBody>
      </p:sp>
      <p:pic>
        <p:nvPicPr>
          <p:cNvPr id="9" name="Picture 8" descr="05_conditional_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1" y="1143000"/>
            <a:ext cx="6176597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86600" y="1234440"/>
            <a:ext cx="470916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800">
                <a:solidFill>
                  <a:srgbClr val="E08214"/>
                </a:solidFill>
                <a:latin typeface="Calibri"/>
              </a:rPr>
              <a:t>■  </a:t>
            </a:r>
            <a:r>
              <a:rPr sz="1300" b="1">
                <a:solidFill>
                  <a:srgbClr val="222B38"/>
                </a:solidFill>
                <a:latin typeface="Calibri"/>
              </a:rPr>
              <a:t>Unit analisis: </a:t>
            </a:r>
            <a:r>
              <a:rPr sz="1300" b="0">
                <a:solidFill>
                  <a:srgbClr val="222B38"/>
                </a:solidFill>
                <a:latin typeface="Calibri"/>
              </a:rPr>
              <a:t>satu hari bursa BEI; t+1 = hari bursa berikutnya.</a:t>
            </a:r>
          </a:p>
          <a:p>
            <a:pPr>
              <a:spcAft>
                <a:spcPts val="800"/>
              </a:spcAft>
            </a:pPr>
            <a:r>
              <a:rPr sz="800">
                <a:solidFill>
                  <a:srgbClr val="E08214"/>
                </a:solidFill>
                <a:latin typeface="Calibri"/>
              </a:rPr>
              <a:t>■  </a:t>
            </a:r>
            <a:r>
              <a:rPr sz="1300" b="1">
                <a:solidFill>
                  <a:srgbClr val="222B38"/>
                </a:solidFill>
                <a:latin typeface="Calibri"/>
              </a:rPr>
              <a:t>Record: </a:t>
            </a:r>
            <a:r>
              <a:rPr sz="1300" b="0">
                <a:solidFill>
                  <a:srgbClr val="222B38"/>
                </a:solidFill>
                <a:latin typeface="Calibri"/>
              </a:rPr>
              <a:t>4.277 → 3.975 setelah seleksi.</a:t>
            </a:r>
          </a:p>
          <a:p>
            <a:pPr>
              <a:spcAft>
                <a:spcPts val="800"/>
              </a:spcAft>
            </a:pPr>
            <a:r>
              <a:rPr sz="800">
                <a:solidFill>
                  <a:srgbClr val="E08214"/>
                </a:solidFill>
                <a:latin typeface="Calibri"/>
              </a:rPr>
              <a:t>■  </a:t>
            </a:r>
            <a:r>
              <a:rPr sz="1300" b="1">
                <a:solidFill>
                  <a:srgbClr val="D73027"/>
                </a:solidFill>
                <a:latin typeface="Calibri"/>
              </a:rPr>
              <a:t>CPI dikeluarkan: </a:t>
            </a:r>
            <a:r>
              <a:rPr sz="1300" b="0">
                <a:solidFill>
                  <a:srgbClr val="222B38"/>
                </a:solidFill>
                <a:latin typeface="Calibri"/>
              </a:rPr>
              <a:t>look-ahead bias dan hanya 17 nilai unik (penanda tahun).</a:t>
            </a:r>
          </a:p>
          <a:p>
            <a:pPr>
              <a:spcAft>
                <a:spcPts val="800"/>
              </a:spcAft>
            </a:pPr>
            <a:r>
              <a:rPr sz="800">
                <a:solidFill>
                  <a:srgbClr val="E08214"/>
                </a:solidFill>
                <a:latin typeface="Calibri"/>
              </a:rPr>
              <a:t>■  </a:t>
            </a:r>
            <a:r>
              <a:rPr sz="1300" b="1">
                <a:solidFill>
                  <a:srgbClr val="222B38"/>
                </a:solidFill>
                <a:latin typeface="Calibri"/>
              </a:rPr>
              <a:t>Level harga diganti return/rasio </a:t>
            </a:r>
            <a:r>
              <a:rPr sz="1300" b="0">
                <a:solidFill>
                  <a:srgbClr val="222B38"/>
                </a:solidFill>
                <a:latin typeface="Calibri"/>
              </a:rPr>
              <a:t>karena tidak stasioner.</a:t>
            </a:r>
          </a:p>
          <a:p>
            <a:pPr>
              <a:spcAft>
                <a:spcPts val="800"/>
              </a:spcAft>
            </a:pPr>
            <a:r>
              <a:rPr sz="800">
                <a:solidFill>
                  <a:srgbClr val="E08214"/>
                </a:solidFill>
                <a:latin typeface="Calibri"/>
              </a:rPr>
              <a:t>■  </a:t>
            </a:r>
            <a:r>
              <a:rPr sz="1300" b="1">
                <a:solidFill>
                  <a:srgbClr val="222B38"/>
                </a:solidFill>
                <a:latin typeface="Calibri"/>
              </a:rPr>
              <a:t>16 fitur direncanakan </a:t>
            </a:r>
            <a:r>
              <a:rPr sz="1300" b="0">
                <a:solidFill>
                  <a:srgbClr val="222B38"/>
                </a:solidFill>
                <a:latin typeface="Calibri"/>
              </a:rPr>
              <a:t>di reports/feature_plan.csv.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663440"/>
            <a:ext cx="11384280" cy="11887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4663440"/>
            <a:ext cx="64008" cy="1188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754879"/>
            <a:ext cx="111099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3A5F"/>
                </a:solidFill>
                <a:latin typeface="Calibri"/>
              </a:rPr>
              <a:t>Uji relevansi (chi-kuadrat, 2010–2022)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102352"/>
            <a:ext cx="11109959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B38"/>
                </a:solidFill>
                <a:latin typeface="Calibri"/>
              </a:rPr>
              <a:t>Peluang IHSG naik besok 63,8% bila S&amp;P 500 naik vs 43,2% bila turun (selisih +20,6 poin); VIX −18,0 poin; minyak +9,3 poin; emas +4,8 poin — semuanya signifikan. Arah hubungan S&amp;P 500 dan VIX konsisten di 13 dari 13 tahun.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8778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Pembersihan data: enam langkah, terverifikasi otomatis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64040" y="347472"/>
            <a:ext cx="2331720" cy="420624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64040" y="347472"/>
            <a:ext cx="233172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E08214"/>
                </a:solidFill>
                <a:latin typeface="Calibri"/>
              </a:rPr>
              <a:t>Unit 6</a:t>
            </a:r>
            <a:r>
              <a:rPr sz="1100" b="0">
                <a:solidFill>
                  <a:srgbClr val="5A6778"/>
                </a:solidFill>
                <a:latin typeface="Calibri"/>
              </a:rPr>
              <a:t>  ·  J.62DMI00.008.1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11384280" cy="27432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Prediksi Arah Harian IHSG  ·  M. Syamsuddin Wisnubroto  ·  Portofolio Ilmuwan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9</a:t>
            </a:r>
          </a:p>
        </p:txBody>
      </p:sp>
      <p:pic>
        <p:nvPicPr>
          <p:cNvPr id="9" name="Picture 8" descr="06_cleaning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54895"/>
            <a:ext cx="6766560" cy="2719409"/>
          </a:xfrm>
          <a:prstGeom prst="rect">
            <a:avLst/>
          </a:prstGeom>
        </p:spPr>
      </p:pic>
      <p:pic>
        <p:nvPicPr>
          <p:cNvPr id="10" name="Picture 9" descr="06_usdidr_before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195857"/>
            <a:ext cx="6766560" cy="1895285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52360" y="1188720"/>
          <a:ext cx="43434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109728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Uji verifikasi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Hasil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Tidak ada nilai kosong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9850"/>
                          </a:solidFill>
                          <a:latin typeface="Calibri"/>
                        </a:rPr>
                        <a:t>LULUS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Tanggal unik &amp; berurutan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9850"/>
                          </a:solidFill>
                          <a:latin typeface="Calibri"/>
                        </a:rPr>
                        <a:t>LULUS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Semua harga &gt; 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9850"/>
                          </a:solidFill>
                          <a:latin typeface="Calibri"/>
                        </a:rPr>
                        <a:t>LULUS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Tidak ada hari IHSG "tidak berubah"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9850"/>
                          </a:solidFill>
                          <a:latin typeface="Calibri"/>
                        </a:rPr>
                        <a:t>LULUS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USD/IDR ≤ 4% dari median 21 hari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9850"/>
                          </a:solidFill>
                          <a:latin typeface="Calibri"/>
                        </a:rPr>
                        <a:t>LULUS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CPI sudah dikeluarkan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9850"/>
                          </a:solidFill>
                          <a:latin typeface="Calibri"/>
                        </a:rPr>
                        <a:t>LULUS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Suku bunga PIT tidak mendahului data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9850"/>
                          </a:solidFill>
                          <a:latin typeface="Calibri"/>
                        </a:rPr>
                        <a:t>LULUS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452360" y="4114800"/>
            <a:ext cx="43434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Forward-fill, bukan interpolasi: </a:t>
            </a:r>
            <a:r>
              <a:rPr sz="1200" b="0">
                <a:solidFill>
                  <a:srgbClr val="222B38"/>
                </a:solidFill>
                <a:latin typeface="Calibri"/>
              </a:rPr>
              <a:t>interpolasi akan "mengintip" nilai hari berikutnya.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Hasil: </a:t>
            </a:r>
            <a:r>
              <a:rPr sz="1200" b="0">
                <a:solidFill>
                  <a:srgbClr val="222B38"/>
                </a:solidFill>
                <a:latin typeface="Calibri"/>
              </a:rPr>
              <a:t>3.956 hari bursa bersih; 3.464 sel dikoreksi.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Sempat gagal satu uji </a:t>
            </a:r>
            <a:r>
              <a:rPr sz="1200" b="0">
                <a:solidFill>
                  <a:srgbClr val="222B38"/>
                </a:solidFill>
                <a:latin typeface="Calibri"/>
              </a:rPr>
              <a:t>(USD/IDR 19 Jun 2025) → aturan deteksi diperbaiki di Unit 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8778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Konstruksi data: 16 fitur, split kronologis, uji kebocoran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64040" y="347472"/>
            <a:ext cx="2331720" cy="420624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64040" y="347472"/>
            <a:ext cx="233172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E08214"/>
                </a:solidFill>
                <a:latin typeface="Calibri"/>
              </a:rPr>
              <a:t>Unit 7</a:t>
            </a:r>
            <a:r>
              <a:rPr sz="1100" b="0">
                <a:solidFill>
                  <a:srgbClr val="5A6778"/>
                </a:solidFill>
                <a:latin typeface="Calibri"/>
              </a:rPr>
              <a:t>  ·  J.62DMI00.009.1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11384280" cy="27432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Prediksi Arah Harian IHSG  ·  M. Syamsuddin Wisnubroto  ·  Portofolio Ilmuwan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10</a:t>
            </a:r>
          </a:p>
        </p:txBody>
      </p:sp>
      <p:pic>
        <p:nvPicPr>
          <p:cNvPr id="9" name="Picture 8" descr="07_train_test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03" y="1143000"/>
            <a:ext cx="7159032" cy="237744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3657600"/>
          <a:ext cx="69494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50292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Kelompok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Fitur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IHSG (8)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return t, t-1..t-3, momentum 5 hari, jarak ke MA5/MA20, volatilitas 10 hari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Pasar AS (4)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return S&amp;P 500 t &amp; t-1, level VIX, perubahan VIX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Komoditas &amp; kurs (3)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return minyak, emas, USD/IDR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Kebijakan moneter (1)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BI rate − Fed rate (nilai akhir bulan sebelumnya)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635240" y="3657600"/>
            <a:ext cx="416052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700">
                <a:solidFill>
                  <a:srgbClr val="E08214"/>
                </a:solidFill>
                <a:latin typeface="Calibri"/>
              </a:rPr>
              <a:t>■  </a:t>
            </a:r>
            <a:r>
              <a:rPr sz="1200" b="1">
                <a:solidFill>
                  <a:srgbClr val="222B38"/>
                </a:solidFill>
                <a:latin typeface="Calibri"/>
              </a:rPr>
              <a:t>Latih: </a:t>
            </a:r>
            <a:r>
              <a:rPr sz="1200" b="0">
                <a:solidFill>
                  <a:srgbClr val="222B38"/>
                </a:solidFill>
                <a:latin typeface="Calibri"/>
              </a:rPr>
              <a:t>3.148 hari (Mar 2010 – Jan 2023)</a:t>
            </a:r>
          </a:p>
          <a:p>
            <a:pPr>
              <a:spcAft>
                <a:spcPts val="500"/>
              </a:spcAft>
            </a:pPr>
            <a:r>
              <a:rPr sz="700">
                <a:solidFill>
                  <a:srgbClr val="E08214"/>
                </a:solidFill>
                <a:latin typeface="Calibri"/>
              </a:rPr>
              <a:t>■  </a:t>
            </a:r>
            <a:r>
              <a:rPr sz="1200" b="1">
                <a:solidFill>
                  <a:srgbClr val="222B38"/>
                </a:solidFill>
                <a:latin typeface="Calibri"/>
              </a:rPr>
              <a:t>Uji: </a:t>
            </a:r>
            <a:r>
              <a:rPr sz="1200" b="0">
                <a:solidFill>
                  <a:srgbClr val="222B38"/>
                </a:solidFill>
                <a:latin typeface="Calibri"/>
              </a:rPr>
              <a:t>787 hari (Jan 2023 – Mei 2026)</a:t>
            </a:r>
          </a:p>
          <a:p>
            <a:pPr>
              <a:spcAft>
                <a:spcPts val="500"/>
              </a:spcAft>
            </a:pPr>
            <a:r>
              <a:rPr sz="700">
                <a:solidFill>
                  <a:srgbClr val="E08214"/>
                </a:solidFill>
                <a:latin typeface="Calibri"/>
              </a:rPr>
              <a:t>■  </a:t>
            </a:r>
            <a:r>
              <a:rPr sz="1200" b="1">
                <a:solidFill>
                  <a:srgbClr val="222B38"/>
                </a:solidFill>
                <a:latin typeface="Calibri"/>
              </a:rPr>
              <a:t>Purging 1 hari </a:t>
            </a:r>
            <a:r>
              <a:rPr sz="1200" b="0">
                <a:solidFill>
                  <a:srgbClr val="222B38"/>
                </a:solidFill>
                <a:latin typeface="Calibri"/>
              </a:rPr>
              <a:t>agar label tidak tumpang tindih.</a:t>
            </a:r>
          </a:p>
          <a:p>
            <a:pPr>
              <a:spcAft>
                <a:spcPts val="500"/>
              </a:spcAft>
            </a:pPr>
            <a:r>
              <a:rPr sz="700">
                <a:solidFill>
                  <a:srgbClr val="E08214"/>
                </a:solidFill>
                <a:latin typeface="Calibri"/>
              </a:rPr>
              <a:t>■  </a:t>
            </a:r>
            <a:r>
              <a:rPr sz="1200" b="1">
                <a:solidFill>
                  <a:srgbClr val="222B38"/>
                </a:solidFill>
                <a:latin typeface="Calibri"/>
              </a:rPr>
              <a:t>Uji point-in-time: </a:t>
            </a:r>
            <a:r>
              <a:rPr sz="1200" b="0">
                <a:solidFill>
                  <a:srgbClr val="222B38"/>
                </a:solidFill>
                <a:latin typeface="Calibri"/>
              </a:rPr>
              <a:t>40 tanggal, 0 selisih; kontrol negatif tertangkap.</a:t>
            </a:r>
          </a:p>
          <a:p>
            <a:pPr>
              <a:spcAft>
                <a:spcPts val="500"/>
              </a:spcAft>
            </a:pPr>
            <a:r>
              <a:rPr sz="700">
                <a:solidFill>
                  <a:srgbClr val="E08214"/>
                </a:solidFill>
                <a:latin typeface="Calibri"/>
              </a:rPr>
              <a:t>■  </a:t>
            </a:r>
            <a:r>
              <a:rPr sz="1200" b="1">
                <a:solidFill>
                  <a:srgbClr val="222B38"/>
                </a:solidFill>
                <a:latin typeface="Calibri"/>
              </a:rPr>
              <a:t>Winsorization 1–99% </a:t>
            </a:r>
            <a:r>
              <a:rPr sz="1200" b="0">
                <a:solidFill>
                  <a:srgbClr val="222B38"/>
                </a:solidFill>
                <a:latin typeface="Calibri"/>
              </a:rPr>
              <a:t>dari data latih saja.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8778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Skenario model: validasi yang menghormati urutan waktu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64040" y="347472"/>
            <a:ext cx="2331720" cy="420624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64040" y="347472"/>
            <a:ext cx="233172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E08214"/>
                </a:solidFill>
                <a:latin typeface="Calibri"/>
              </a:rPr>
              <a:t>Unit 8</a:t>
            </a:r>
            <a:r>
              <a:rPr sz="1100" b="0">
                <a:solidFill>
                  <a:srgbClr val="5A6778"/>
                </a:solidFill>
                <a:latin typeface="Calibri"/>
              </a:rPr>
              <a:t>  ·  J.62DMI00.012.1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11384280" cy="27432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Prediksi Arah Harian IHSG  ·  M. Syamsuddin Wisnubroto  ·  Portofolio Ilmuwan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11</a:t>
            </a:r>
          </a:p>
        </p:txBody>
      </p:sp>
      <p:pic>
        <p:nvPicPr>
          <p:cNvPr id="9" name="Picture 8" descr="08_timeseries_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94435"/>
            <a:ext cx="6583679" cy="209169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269480" y="1188720"/>
          <a:ext cx="452627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874519"/>
                <a:gridCol w="21031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Skenario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Catatan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B1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Mayoritas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selalu menebak kelas terbanyak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B2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Acak berstrata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sesuai proporsi kelas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B3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Ikuti arah S&amp;P 500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baseline domain yang kuat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S1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standardisasi, balanced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S2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Decision Tree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max_depth 4, min leaf 50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S3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300 pohon, max_depth 5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S4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150 pohon, lr 0,05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S5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SVM (RBF)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standardisasi, balanced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3566160"/>
            <a:ext cx="658368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800">
                <a:solidFill>
                  <a:srgbClr val="E08214"/>
                </a:solidFill>
                <a:latin typeface="Calibri"/>
              </a:rPr>
              <a:t>■  </a:t>
            </a:r>
            <a:r>
              <a:rPr sz="1300" b="1">
                <a:solidFill>
                  <a:srgbClr val="222B38"/>
                </a:solidFill>
                <a:latin typeface="Calibri"/>
              </a:rPr>
              <a:t>TimeSeriesSplit 5 lipatan, gap 1 hari: </a:t>
            </a:r>
            <a:r>
              <a:rPr sz="1300" b="0">
                <a:solidFill>
                  <a:srgbClr val="222B38"/>
                </a:solidFill>
                <a:latin typeface="Calibri"/>
              </a:rPr>
              <a:t>model selalu diuji pada periode setelah data latihnya.</a:t>
            </a:r>
          </a:p>
          <a:p>
            <a:pPr>
              <a:spcAft>
                <a:spcPts val="800"/>
              </a:spcAft>
            </a:pPr>
            <a:r>
              <a:rPr sz="800">
                <a:solidFill>
                  <a:srgbClr val="E08214"/>
                </a:solidFill>
                <a:latin typeface="Calibri"/>
              </a:rPr>
              <a:t>■  </a:t>
            </a:r>
            <a:r>
              <a:rPr sz="1300" b="1">
                <a:solidFill>
                  <a:srgbClr val="222B38"/>
                </a:solidFill>
                <a:latin typeface="Calibri"/>
              </a:rPr>
              <a:t>Metrik utama F1-macro </a:t>
            </a:r>
            <a:r>
              <a:rPr sz="1300" b="0">
                <a:solidFill>
                  <a:srgbClr val="222B38"/>
                </a:solidFill>
                <a:latin typeface="Calibri"/>
              </a:rPr>
              <a:t>(adil untuk kedua kelas), lalu ROC-AUC.</a:t>
            </a:r>
          </a:p>
          <a:p>
            <a:pPr>
              <a:spcAft>
                <a:spcPts val="800"/>
              </a:spcAft>
            </a:pPr>
            <a:r>
              <a:rPr sz="800">
                <a:solidFill>
                  <a:srgbClr val="E08214"/>
                </a:solidFill>
                <a:latin typeface="Calibri"/>
              </a:rPr>
              <a:t>■  </a:t>
            </a:r>
            <a:r>
              <a:rPr sz="1300" b="1">
                <a:solidFill>
                  <a:srgbClr val="222B38"/>
                </a:solidFill>
                <a:latin typeface="Calibri"/>
              </a:rPr>
              <a:t>Standardisasi di dalam Pipeline </a:t>
            </a:r>
            <a:r>
              <a:rPr sz="1300" b="0">
                <a:solidFill>
                  <a:srgbClr val="222B38"/>
                </a:solidFill>
                <a:latin typeface="Calibri"/>
              </a:rPr>
              <a:t>sehingga di-fit ulang per lipatan.</a:t>
            </a:r>
          </a:p>
          <a:p>
            <a:pPr>
              <a:spcAft>
                <a:spcPts val="800"/>
              </a:spcAft>
            </a:pPr>
            <a:r>
              <a:rPr sz="800">
                <a:solidFill>
                  <a:srgbClr val="E08214"/>
                </a:solidFill>
                <a:latin typeface="Calibri"/>
              </a:rPr>
              <a:t>■  </a:t>
            </a:r>
            <a:r>
              <a:rPr sz="1300" b="1">
                <a:solidFill>
                  <a:srgbClr val="222B38"/>
                </a:solidFill>
                <a:latin typeface="Calibri"/>
              </a:rPr>
              <a:t>Aturan pemilihan ditulis sebelum eksperimen </a:t>
            </a:r>
            <a:r>
              <a:rPr sz="1300" b="0">
                <a:solidFill>
                  <a:srgbClr val="222B38"/>
                </a:solidFill>
                <a:latin typeface="Calibri"/>
              </a:rPr>
              <a:t>dan disimpan di model_scenarios.json.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8778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Membangun model: Random Forest terpilih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64040" y="347472"/>
            <a:ext cx="2331720" cy="420624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64040" y="347472"/>
            <a:ext cx="233172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E08214"/>
                </a:solidFill>
                <a:latin typeface="Calibri"/>
              </a:rPr>
              <a:t>Unit 9</a:t>
            </a:r>
            <a:r>
              <a:rPr sz="1100" b="0">
                <a:solidFill>
                  <a:srgbClr val="5A6778"/>
                </a:solidFill>
                <a:latin typeface="Calibri"/>
              </a:rPr>
              <a:t>  ·  J.62DMI00.013.1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11384280" cy="27432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Prediksi Arah Harian IHSG  ·  M. Syamsuddin Wisnubroto  ·  Portofolio Ilmuwan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12</a:t>
            </a:r>
          </a:p>
        </p:txBody>
      </p:sp>
      <p:pic>
        <p:nvPicPr>
          <p:cNvPr id="9" name="Picture 8" descr="09_cv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2273"/>
            <a:ext cx="11384280" cy="339045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1480" y="4800600"/>
            <a:ext cx="5577840" cy="128016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800600"/>
            <a:ext cx="64008" cy="12801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89204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3A5F"/>
                </a:solidFill>
                <a:latin typeface="Calibri"/>
              </a:rPr>
              <a:t>Pemilihan &amp; tuning — tipis di atas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239512"/>
            <a:ext cx="5303520" cy="7772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B38"/>
                </a:solidFill>
                <a:latin typeface="Calibri"/>
              </a:rPr>
              <a:t>S3 Random Forest: F1-macro CV 0,602 vs B3 0,593. Grid search 9 kombinasi → max_depth 8, min_samples_leaf 20 (F1 CV 0,603).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800600"/>
            <a:ext cx="5577840" cy="128016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800600"/>
            <a:ext cx="64008" cy="1280160"/>
          </a:xfrm>
          <a:prstGeom prst="rect">
            <a:avLst/>
          </a:prstGeom>
          <a:solidFill>
            <a:srgbClr val="D73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89204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D73027"/>
                </a:solidFill>
                <a:latin typeface="Calibri"/>
              </a:rPr>
              <a:t>Diagnosis overfitting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239512"/>
            <a:ext cx="5303520" cy="7772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B38"/>
                </a:solidFill>
                <a:latin typeface="Calibri"/>
              </a:rPr>
              <a:t>F1 data latih 0,726 vs CV 0,603 (selisih 0,123 ≥ 0,10) → ditandai dan dibahas di review.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8778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Evaluasi pada data uji: 4 dari 5 kriteria terpenuhi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64040" y="347472"/>
            <a:ext cx="2331720" cy="420624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64040" y="347472"/>
            <a:ext cx="233172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E08214"/>
                </a:solidFill>
                <a:latin typeface="Calibri"/>
              </a:rPr>
              <a:t>Unit 10</a:t>
            </a:r>
            <a:r>
              <a:rPr sz="1100" b="0">
                <a:solidFill>
                  <a:srgbClr val="5A6778"/>
                </a:solidFill>
                <a:latin typeface="Calibri"/>
              </a:rPr>
              <a:t>  ·  J.62DMI00.014.1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11384280" cy="27432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Prediksi Arah Harian IHSG  ·  M. Syamsuddin Wisnubroto  ·  Portofolio Ilmuwan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13</a:t>
            </a:r>
          </a:p>
        </p:txBody>
      </p:sp>
      <p:pic>
        <p:nvPicPr>
          <p:cNvPr id="9" name="Picture 8" descr="10_confusion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2526"/>
            <a:ext cx="6675120" cy="2429826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269480" y="1188720"/>
          <a:ext cx="45262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22960"/>
                <a:gridCol w="822960"/>
                <a:gridCol w="7772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 / baseline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F1-macro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2B38"/>
                          </a:solidFill>
                          <a:latin typeface="Calibri"/>
                        </a:rPr>
                        <a:t>Random Forest (final)</a:t>
                      </a:r>
                    </a:p>
                  </a:txBody>
                  <a:tcPr marL="64008" marR="64008" marT="27432" marB="27432" anchor="ctr">
                    <a:solidFill>
                      <a:srgbClr val="FDF1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2B38"/>
                          </a:solidFill>
                          <a:latin typeface="Calibri"/>
                        </a:rPr>
                        <a:t>0,560</a:t>
                      </a:r>
                    </a:p>
                  </a:txBody>
                  <a:tcPr marL="64008" marR="64008" marT="27432" marB="27432" anchor="ctr">
                    <a:solidFill>
                      <a:srgbClr val="FDF1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2B38"/>
                          </a:solidFill>
                          <a:latin typeface="Calibri"/>
                        </a:rPr>
                        <a:t>0,558</a:t>
                      </a:r>
                    </a:p>
                  </a:txBody>
                  <a:tcPr marL="64008" marR="64008" marT="27432" marB="27432" anchor="ctr">
                    <a:solidFill>
                      <a:srgbClr val="FDF1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2B38"/>
                          </a:solidFill>
                          <a:latin typeface="Calibri"/>
                        </a:rPr>
                        <a:t>0,569</a:t>
                      </a:r>
                    </a:p>
                  </a:txBody>
                  <a:tcPr marL="64008" marR="64008" marT="27432" marB="27432" anchor="ctr">
                    <a:solidFill>
                      <a:srgbClr val="FDF1E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B3 Ikuti S&amp;P 500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0,553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0,550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0,580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B2 Acak berstrata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0,513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0,510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0,511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B1 Mayoritas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0,527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0,345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0,500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269480" y="3291840"/>
          <a:ext cx="4526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822960"/>
                <a:gridCol w="12801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Kriteria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Nilai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T1 Accuracy ≥ 0,55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0,560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9850"/>
                          </a:solidFill>
                          <a:latin typeface="Calibri"/>
                        </a:rPr>
                        <a:t>LULUS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T2 F1-macro ≥ 0,55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0,558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9850"/>
                          </a:solidFill>
                          <a:latin typeface="Calibri"/>
                        </a:rPr>
                        <a:t>LULUS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T3 ROC-AUC ≥ 0,58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0,569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73027"/>
                          </a:solidFill>
                          <a:latin typeface="Calibri"/>
                        </a:rPr>
                        <a:t>TIDAK LULUS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T4 Kalahkan B1 &amp; B2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9850"/>
                          </a:solidFill>
                          <a:latin typeface="Calibri"/>
                        </a:rPr>
                        <a:t>LULUS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T5 Tanpa kebocoran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9850"/>
                          </a:solidFill>
                          <a:latin typeface="Calibri"/>
                        </a:rPr>
                        <a:t>LULUS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11480" y="3794760"/>
            <a:ext cx="6675120" cy="14173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3794760"/>
            <a:ext cx="64008" cy="1417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88620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3A5F"/>
                </a:solidFill>
                <a:latin typeface="Calibri"/>
              </a:rPr>
              <a:t>Interpretasi jujur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233672"/>
            <a:ext cx="6400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B38"/>
                </a:solidFill>
                <a:latin typeface="Calibri"/>
              </a:rPr>
              <a:t>Model mengalahkan baseline naif, tetapi selisihnya terhadap aturan "ikuti S&amp;P 500" hanya +0,8 poin akurasi dan −0,011 AUC. ROC-AUC 0,569 belum mencapai ambang 0,58. Model tidak disetel ulang setelah melihat data uji.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8778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Faktor pendorong, keyakinan, dan stabilitas per tahun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64040" y="347472"/>
            <a:ext cx="2331720" cy="420624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64040" y="347472"/>
            <a:ext cx="233172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E08214"/>
                </a:solidFill>
                <a:latin typeface="Calibri"/>
              </a:rPr>
              <a:t>Unit 10</a:t>
            </a:r>
            <a:r>
              <a:rPr sz="1100" b="0">
                <a:solidFill>
                  <a:srgbClr val="5A6778"/>
                </a:solidFill>
                <a:latin typeface="Calibri"/>
              </a:rPr>
              <a:t>  ·  J.62DMI00.014.1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11384280" cy="27432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Prediksi Arah Harian IHSG  ·  M. Syamsuddin Wisnubroto  ·  Portofolio Ilmuwan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14</a:t>
            </a:r>
          </a:p>
        </p:txBody>
      </p:sp>
      <p:pic>
        <p:nvPicPr>
          <p:cNvPr id="9" name="Picture 8" descr="10_permutation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31909"/>
            <a:ext cx="5120640" cy="2914021"/>
          </a:xfrm>
          <a:prstGeom prst="rect">
            <a:avLst/>
          </a:prstGeom>
        </p:spPr>
      </p:pic>
      <p:pic>
        <p:nvPicPr>
          <p:cNvPr id="10" name="Picture 9" descr="10_yearly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594" y="1142999"/>
            <a:ext cx="5727290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60720" y="4023360"/>
            <a:ext cx="603504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700">
                <a:solidFill>
                  <a:srgbClr val="E08214"/>
                </a:solidFill>
                <a:latin typeface="Calibri"/>
              </a:rPr>
              <a:t>■  </a:t>
            </a:r>
            <a:r>
              <a:rPr sz="1200" b="1">
                <a:solidFill>
                  <a:srgbClr val="222B38"/>
                </a:solidFill>
                <a:latin typeface="Calibri"/>
              </a:rPr>
              <a:t>Faktor utama: </a:t>
            </a:r>
            <a:r>
              <a:rPr sz="1200" b="0">
                <a:solidFill>
                  <a:srgbClr val="222B38"/>
                </a:solidFill>
                <a:latin typeface="Calibri"/>
              </a:rPr>
              <a:t>return S&amp;P 500 dan perubahan VIX; fitur lain hampir tidak berkontribusi.</a:t>
            </a:r>
          </a:p>
          <a:p>
            <a:pPr>
              <a:spcAft>
                <a:spcPts val="500"/>
              </a:spcAft>
            </a:pPr>
            <a:r>
              <a:rPr sz="700">
                <a:solidFill>
                  <a:srgbClr val="E08214"/>
                </a:solidFill>
                <a:latin typeface="Calibri"/>
              </a:rPr>
              <a:t>■  </a:t>
            </a:r>
            <a:r>
              <a:rPr sz="1200" b="1">
                <a:solidFill>
                  <a:srgbClr val="222B38"/>
                </a:solidFill>
                <a:latin typeface="Calibri"/>
              </a:rPr>
              <a:t>Sepertiga prediksi paling yakin: </a:t>
            </a:r>
            <a:r>
              <a:rPr sz="1200" b="0">
                <a:solidFill>
                  <a:srgbClr val="222B38"/>
                </a:solidFill>
                <a:latin typeface="Calibri"/>
              </a:rPr>
              <a:t>akurasi 58,6%.</a:t>
            </a:r>
          </a:p>
          <a:p>
            <a:pPr>
              <a:spcAft>
                <a:spcPts val="500"/>
              </a:spcAft>
            </a:pPr>
            <a:r>
              <a:rPr sz="700">
                <a:solidFill>
                  <a:srgbClr val="E08214"/>
                </a:solidFill>
                <a:latin typeface="Calibri"/>
              </a:rPr>
              <a:t>■  </a:t>
            </a:r>
            <a:r>
              <a:rPr sz="1200" b="1">
                <a:solidFill>
                  <a:srgbClr val="222B38"/>
                </a:solidFill>
                <a:latin typeface="Calibri"/>
              </a:rPr>
              <a:t>Akurasi per tahun: </a:t>
            </a:r>
            <a:r>
              <a:rPr sz="1200" b="0">
                <a:solidFill>
                  <a:srgbClr val="222B38"/>
                </a:solidFill>
                <a:latin typeface="Calibri"/>
              </a:rPr>
              <a:t>53,4% – 60,1%.</a:t>
            </a:r>
          </a:p>
          <a:p>
            <a:pPr>
              <a:spcAft>
                <a:spcPts val="500"/>
              </a:spcAft>
            </a:pPr>
            <a:r>
              <a:rPr sz="700">
                <a:solidFill>
                  <a:srgbClr val="E08214"/>
                </a:solidFill>
                <a:latin typeface="Calibri"/>
              </a:rPr>
              <a:t>■  </a:t>
            </a:r>
            <a:r>
              <a:rPr sz="1200" b="1">
                <a:solidFill>
                  <a:srgbClr val="222B38"/>
                </a:solidFill>
                <a:latin typeface="Calibri"/>
              </a:rPr>
              <a:t>Makna ekonomi: </a:t>
            </a:r>
            <a:r>
              <a:rPr sz="1200" b="0">
                <a:solidFill>
                  <a:srgbClr val="222B38"/>
                </a:solidFill>
                <a:latin typeface="Calibri"/>
              </a:rPr>
              <a:t>hari diprediksi naik rata-rata +0,14% vs −0,19% (p &lt; 0,001) — kualitas informasi, bukan keuntungan trading.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572000"/>
            <a:ext cx="512064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778"/>
                </a:solidFill>
                <a:latin typeface="Calibri"/>
              </a:rPr>
              <a:t>Permutation importance: penurunan ROC-AUC data uji bila nilai satu fitur diacak 30 kali. Berlaku untuk semua jenis model dan dihitung pada data yang belum pernah dilihat.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8778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Review pemodelan: keterbatasan yang terukur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64040" y="347472"/>
            <a:ext cx="2331720" cy="420624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64040" y="347472"/>
            <a:ext cx="233172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E08214"/>
                </a:solidFill>
                <a:latin typeface="Calibri"/>
              </a:rPr>
              <a:t>Unit 11</a:t>
            </a:r>
            <a:r>
              <a:rPr sz="1100" b="0">
                <a:solidFill>
                  <a:srgbClr val="5A6778"/>
                </a:solidFill>
                <a:latin typeface="Calibri"/>
              </a:rPr>
              <a:t>  ·  J.62DMI00.015.1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11384280" cy="27432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Prediksi Arah Harian IHSG  ·  M. Syamsuddin Wisnubroto  ·  Portofolio Ilmuwan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15</a:t>
            </a:r>
          </a:p>
        </p:txBody>
      </p:sp>
      <p:pic>
        <p:nvPicPr>
          <p:cNvPr id="9" name="Picture 8" descr="11_feature_drift_p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9423"/>
            <a:ext cx="4937760" cy="2764672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577840" y="1188720"/>
          <a:ext cx="6217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1148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Keterbatasan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Bukti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Sinyal terkonsentrasi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S&amp;P 500 fitur terpenting; ΔAUC vs B3 −0,011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Bukan strategi trading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Info sesi AS sudah tercermin di harga pembukaan BEI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Pergeseran rezim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rate_spread uji 0,42–1,52 vs latih 1,40–7,64 (PSI 8,4)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Tuning kurang hemat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max_depth 8 untuk +0,0008 F1; selisih latih–CV 0,123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Kualitas &amp; cakupan data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Satu sumber; tanpa data intrahari dan aliran dana asing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11480" y="4434840"/>
            <a:ext cx="11384280" cy="11887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4434840"/>
            <a:ext cx="64008" cy="1188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526279"/>
            <a:ext cx="111099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3A5F"/>
                </a:solidFill>
                <a:latin typeface="Calibri"/>
              </a:rPr>
              <a:t>Integritas evaluasi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73752"/>
            <a:ext cx="11109959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B38"/>
                </a:solidFill>
                <a:latin typeface="Calibri"/>
              </a:rPr>
              <a:t>Data uji Jan 2023 – Mei 2026 sudah dipakai satu kali. Perbaikan berikutnya tidak boleh dinilai ulang dengan data yang sama — siklus berikutnya dievaluasi dengan data baru setelah Mei 2026 atau melalui paralel run pada fase pilot. Semua angka di notebook review dibaca dari artefak tahap sebelumnya, bukan diketik ulang.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8778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Keputusan dan rekomendasi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64040" y="347472"/>
            <a:ext cx="2331720" cy="420624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64040" y="347472"/>
            <a:ext cx="233172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E08214"/>
                </a:solidFill>
                <a:latin typeface="Calibri"/>
              </a:rPr>
              <a:t>Unit 11</a:t>
            </a:r>
            <a:r>
              <a:rPr sz="1100" b="0">
                <a:solidFill>
                  <a:srgbClr val="5A6778"/>
                </a:solidFill>
                <a:latin typeface="Calibri"/>
              </a:rPr>
              <a:t>  ·  J.62DMI00.015.1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11384280" cy="27432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Prediksi Arah Harian IHSG  ·  M. Syamsuddin Wisnubroto  ·  Portofolio Ilmuwan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88720"/>
            <a:ext cx="11384280" cy="105156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188720"/>
            <a:ext cx="64008" cy="1051560"/>
          </a:xfrm>
          <a:prstGeom prst="rect">
            <a:avLst/>
          </a:prstGeom>
          <a:solidFill>
            <a:srgbClr val="D73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111099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D73027"/>
                </a:solidFill>
                <a:latin typeface="Calibri"/>
              </a:rPr>
              <a:t>Keputusan: BELUM LANJUT ke 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627632"/>
            <a:ext cx="11109959" cy="5486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B38"/>
                </a:solidFill>
                <a:latin typeface="Calibri"/>
              </a:rPr>
              <a:t>Kriteria T3 (ROC-AUC ≥ 0,58) belum terpenuhi dan nilai tambah terhadap aturan "ikuti S&amp;P 500" belum terbukti. Jalankan rekomendasi prioritas tinggi, lalu ulangi siklus pemodelan.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" y="2423160"/>
          <a:ext cx="603504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5029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Prioritas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Rekomendasi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73027"/>
                          </a:solidFill>
                          <a:latin typeface="Calibri"/>
                        </a:rPr>
                        <a:t>Tinggi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Aturan parsimoni saat tuning (one-standard-error rule)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73027"/>
                          </a:solidFill>
                          <a:latin typeface="Calibri"/>
                        </a:rPr>
                        <a:t>Tinggi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Ganti rate_spread (level) dengan perubahan/arah kebijakan suku bunga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73027"/>
                          </a:solidFill>
                          <a:latin typeface="Calibri"/>
                        </a:rPr>
                        <a:t>Tinggi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Backtest dengan harga pembukaan BEI dan biaya transaksi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73027"/>
                          </a:solidFill>
                          <a:latin typeface="Calibri"/>
                        </a:rPr>
                        <a:t>Tinggi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Fitur pasar Asia yang buka sebelum BEI + futures S&amp;P 500 pagi hari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73027"/>
                          </a:solidFill>
                          <a:latin typeface="Calibri"/>
                        </a:rPr>
                        <a:t>Tinggi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Walk-forward retraining bulanan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08214"/>
                          </a:solidFill>
                          <a:latin typeface="Calibri"/>
                        </a:rPr>
                        <a:t>Sedang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Kalibrasi probabilitas dan zona keyakinan; data aliran dana asing harian</a:t>
                      </a:r>
                    </a:p>
                  </a:txBody>
                  <a:tcPr marL="64008" marR="64008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pic>
        <p:nvPicPr>
          <p:cNvPr id="14" name="Picture 13" descr="11_deployment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19" y="2433477"/>
            <a:ext cx="5120640" cy="17167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0" y="4343400"/>
            <a:ext cx="5120640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700">
                <a:solidFill>
                  <a:srgbClr val="E08214"/>
                </a:solidFill>
                <a:latin typeface="Calibri"/>
              </a:rPr>
              <a:t>■  </a:t>
            </a:r>
            <a:r>
              <a:rPr sz="1200" b="1">
                <a:solidFill>
                  <a:srgbClr val="222B38"/>
                </a:solidFill>
                <a:latin typeface="Calibri"/>
              </a:rPr>
              <a:t>Monitoring: </a:t>
            </a:r>
            <a:r>
              <a:rPr sz="1200" b="0">
                <a:solidFill>
                  <a:srgbClr val="222B38"/>
                </a:solidFill>
                <a:latin typeface="Calibri"/>
              </a:rPr>
              <a:t>akurasi &amp; AUC bergulir 60 hari, PSI fitur bulanan, cek kualitas data harian.</a:t>
            </a:r>
          </a:p>
          <a:p>
            <a:pPr>
              <a:spcAft>
                <a:spcPts val="800"/>
              </a:spcAft>
            </a:pPr>
            <a:r>
              <a:rPr sz="700">
                <a:solidFill>
                  <a:srgbClr val="E08214"/>
                </a:solidFill>
                <a:latin typeface="Calibri"/>
              </a:rPr>
              <a:t>■  </a:t>
            </a:r>
            <a:r>
              <a:rPr sz="1200" b="1">
                <a:solidFill>
                  <a:srgbClr val="222B38"/>
                </a:solidFill>
                <a:latin typeface="Calibri"/>
              </a:rPr>
              <a:t>Pemicu: </a:t>
            </a:r>
            <a:r>
              <a:rPr sz="1200" b="0">
                <a:solidFill>
                  <a:srgbClr val="222B38"/>
                </a:solidFill>
                <a:latin typeface="Calibri"/>
              </a:rPr>
              <a:t>model kalah dari "ikuti S&amp;P 500" 3 bulan → evaluasi ulang nilai tambah.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82296" cy="2011680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0584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40280"/>
            <a:ext cx="102412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9D3E3"/>
                </a:solidFill>
                <a:latin typeface="Calibri"/>
              </a:rPr>
              <a:t>Pelajaran utama: pada data keuangan nyata, kerja terpenting ada pada validasi data, pencegahan kebocoran waktu, dan evaluasi yang jujur terhadap baseline yang kuat.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06240"/>
            <a:ext cx="100584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08214"/>
                </a:solidFill>
                <a:latin typeface="Calibri"/>
              </a:rPr>
              <a:t>Repositori: </a:t>
            </a:r>
            <a:r>
              <a:rPr sz="1500" b="0">
                <a:solidFill>
                  <a:srgbClr val="FFFFFF"/>
                </a:solidFill>
                <a:latin typeface="Calibri"/>
              </a:rPr>
              <a:t>portfolio-ilmuwan-data-lengkap — 11 notebook, ekspor HTML, 24 grafik, artefak JSON/CSV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9D3E3"/>
                </a:solidFill>
                <a:latin typeface="Calibri"/>
              </a:rPr>
              <a:t>M. Syamsuddin Wisnubroto · ITERA · syamsuddin.wisnubroto@sd.itera.ac.id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AA8BE"/>
                </a:solidFill>
                <a:latin typeface="Calibri"/>
              </a:rPr>
              <a:t>Proyek ini adalah portofolio kompetensi dan bukan rekomendasi investasi.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